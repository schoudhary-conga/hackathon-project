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g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1639957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PerfBot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BD5E0"/>
                </a:solidFill>
                <a:latin typeface="Segoe UI"/>
              </a:defRPr>
            </a:pPr>
            <a:r>
              <a:t>AI-Powered Performance Insights — Delivered Through Microsoft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840480"/>
            <a:ext cx="210312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718096"/>
                </a:solidFill>
                <a:latin typeface="Segoe UI"/>
              </a:defRPr>
            </a:pPr>
            <a:r>
              <a:t>SPARK Global AI Hackathon  |  June 3–4, 2026  |  AI in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6C542"/>
                </a:solidFill>
                <a:latin typeface="Segoe UI"/>
              </a:defRPr>
            </a:pPr>
            <a:r>
              <a:t>TEAM PERF ALCHEMISTS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0"/>
                </a:solidFill>
                <a:latin typeface="Segoe UI"/>
              </a:defRPr>
            </a:pPr>
            <a:r>
              <a:t>Sabyasachi Choudhury   •   Pankaj Dhondiba   •   Priyanka Deovrat Dongre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g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1639957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C5656"/>
                </a:solidFill>
                <a:latin typeface="Segoe UI"/>
              </a:defRPr>
            </a:pPr>
            <a:r>
              <a:t>⚠️  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FC56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defRPr sz="1600" b="0">
                <a:solidFill>
                  <a:srgbClr val="CBD5E0"/>
                </a:solidFill>
                <a:latin typeface="Segoe UI"/>
              </a:defRPr>
            </a:pPr>
            <a:r>
              <a:t>•  15–30 min manual queries after each test run</a:t>
            </a:r>
          </a:p>
          <a:p>
            <a:pPr>
              <a:spcBef>
                <a:spcPts val="1200"/>
              </a:spcBef>
              <a:defRPr sz="1600">
                <a:solidFill>
                  <a:srgbClr val="CBD5E0"/>
                </a:solidFill>
                <a:latin typeface="Segoe UI"/>
              </a:defRPr>
            </a:pPr>
            <a:r>
              <a:t>•  Tribal knowledge: Flux syntax, metric names, baselines</a:t>
            </a:r>
          </a:p>
          <a:p>
            <a:pPr>
              <a:spcBef>
                <a:spcPts val="1200"/>
              </a:spcBef>
              <a:defRPr sz="1600">
                <a:solidFill>
                  <a:srgbClr val="CBD5E0"/>
                </a:solidFill>
                <a:latin typeface="Segoe UI"/>
              </a:defRPr>
            </a:pPr>
            <a:r>
              <a:t>•  Only 2–3 people can interpret results</a:t>
            </a:r>
          </a:p>
          <a:p>
            <a:pPr>
              <a:spcBef>
                <a:spcPts val="1200"/>
              </a:spcBef>
              <a:defRPr sz="1600">
                <a:solidFill>
                  <a:srgbClr val="CBD5E0"/>
                </a:solidFill>
                <a:latin typeface="Segoe UI"/>
              </a:defRPr>
            </a:pPr>
            <a:r>
              <a:t>•  Regressions caught hours/days 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57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8BB78"/>
                </a:solidFill>
                <a:latin typeface="Segoe UI"/>
              </a:defRPr>
            </a:pPr>
            <a:r>
              <a:t>✅  THE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51560"/>
            <a:ext cx="1828800" cy="3810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✓  Ask in Teams → answer in 5 seconds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✓  GPT-4o generates Flux queries automatically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✓  Anyone on the team can self-serve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  <a:latin typeface="Segoe UI"/>
              </a:defRPr>
            </a:pPr>
            <a:r>
              <a:t>✓  3 tools: Metrics + Pods + Trace RCA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515600" cy="256032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endParaRPr/>
          </a:p>
          <a:p>
            <a:pPr>
              <a:spcBef>
                <a:spcPts val="1400"/>
              </a:spcBef>
              <a:defRPr sz="1700" i="1">
                <a:solidFill>
                  <a:srgbClr val="CBD5E0"/>
                </a:solidFill>
                <a:latin typeface="Segoe UI"/>
              </a:defRPr>
            </a:pPr>
            <a:r>
              <a:t>  👤  "Did platform-data-api pass SLA in the last run?"</a:t>
            </a:r>
          </a:p>
          <a:p>
            <a:pPr>
              <a:spcBef>
                <a:spcPts val="800"/>
              </a:spcBef>
            </a:pPr>
            <a:endParaRPr/>
          </a:p>
          <a:p>
            <a:pPr>
              <a:defRPr sz="1600" b="1">
                <a:solidFill>
                  <a:srgbClr val="F6C542"/>
                </a:solidFill>
                <a:latin typeface="Segoe UI"/>
              </a:defRPr>
            </a:pPr>
            <a:r>
              <a:t>  🤖  ⚠️ BREACH — 5/6 endpoints PASS (p95 &lt; 2000ms).</a:t>
            </a:r>
          </a:p>
          <a:p>
            <a:pPr>
              <a:spcBef>
                <a:spcPts val="400"/>
              </a:spcBef>
              <a:defRPr sz="1500" b="1">
                <a:solidFill>
                  <a:srgbClr val="FC5656"/>
                </a:solidFill>
                <a:latin typeface="Segoe UI"/>
              </a:defRPr>
            </a:pPr>
            <a:r>
              <a:t>       304_DocMgt_RetrievesMultipleDoc: p95 = 54,190ms → SLA BREACH</a:t>
            </a:r>
          </a:p>
          <a:p>
            <a:pPr>
              <a:spcBef>
                <a:spcPts val="400"/>
              </a:spcBef>
              <a:defRPr sz="1500">
                <a:solidFill>
                  <a:srgbClr val="48BB78"/>
                </a:solidFill>
                <a:latin typeface="Segoe UI"/>
              </a:defRPr>
            </a:pPr>
            <a:r>
              <a:t>       Create/Read/Update/Delete: all &lt; 310ms → PASS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g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1639957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8096"/>
                </a:solidFill>
                <a:latin typeface="Segoe UI"/>
              </a:defRPr>
            </a:pPr>
            <a:r>
              <a:t>Zero custom backend — Foundry + one Azure Function + 3 data 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194560"/>
            <a:ext cx="2286000" cy="164592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Teams</a:t>
            </a:r>
            <a:br/>
            <a:r>
              <a:t>Web Chat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194560"/>
            <a:ext cx="2286000" cy="164592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Azure AI Foundry</a:t>
            </a:r>
            <a:br/>
            <a:r>
              <a:t>GPT-4o v35</a:t>
            </a:r>
            <a:br/>
            <a:r>
              <a:t>(349-line prompt)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194560"/>
            <a:ext cx="2286000" cy="164592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Azure Function</a:t>
            </a:r>
            <a:br/>
            <a:r>
              <a:t>Python 3.13</a:t>
            </a:r>
            <a:br/>
            <a:r>
              <a:t>Flex Consumption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463040"/>
            <a:ext cx="2560320" cy="128016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📊 InfluxDB</a:t>
            </a:r>
            <a:br/>
            <a:r>
              <a:t>K6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3108960"/>
            <a:ext cx="2560320" cy="128016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⚙️  Kubernetes</a:t>
            </a:r>
            <a:br/>
            <a:r>
              <a:t>Pod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4754880"/>
            <a:ext cx="2560320" cy="128016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🔍 Grafana Tempo</a:t>
            </a:r>
            <a:br/>
            <a:r>
              <a:t>Traces / RCA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8B2AC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8B2AC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8BB78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8BB78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212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8BB78"/>
                </a:solidFill>
                <a:latin typeface="Segoe UI"/>
              </a:defRPr>
            </a:pPr>
            <a:r>
              <a:t>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g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1639957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0972800" cy="621792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898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Pass/Fail &amp; SLA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38988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Segoe UI"/>
              </a:defRPr>
            </a:pPr>
            <a:r>
              <a:t>"Did it pass?" → instant verdict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29968"/>
            <a:ext cx="10972800" cy="621792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3969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3969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Build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13969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Segoe UI"/>
              </a:defRPr>
            </a:pPr>
            <a:r>
              <a:t>"Compare build X vs Y" → delta 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79776"/>
            <a:ext cx="10972800" cy="621792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8895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88950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Per-API Drill-down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88950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Segoe UI"/>
              </a:defRPr>
            </a:pPr>
            <a:r>
              <a:t>"Which APIs are slowest?" → ranked 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29584"/>
            <a:ext cx="10972800" cy="621792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6393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⚙️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6393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Pod Health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6393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Segoe UI"/>
              </a:defRPr>
            </a:pPr>
            <a:r>
              <a:t>"Pods healthy?" → phase, restarts, readiness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79392"/>
            <a:ext cx="10972800" cy="621792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389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389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Root Cause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389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Segoe UI"/>
              </a:defRPr>
            </a:pPr>
            <a:r>
              <a:t>"Why slow?" → trace span breakdown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29199"/>
            <a:ext cx="10972800" cy="621792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9F7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513892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138927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Grafana + Tempo Links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138927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Segoe UI"/>
              </a:defRPr>
            </a:pPr>
            <a:r>
              <a:t>Auto-generated with pinned time ranges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779008"/>
            <a:ext cx="10972800" cy="621792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58887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88873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Expert Reasoning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588873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Segoe UI"/>
              </a:defRPr>
            </a:pPr>
            <a:r>
              <a:t>"Safe to deploy?" → perf engineer logic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g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1639957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Guardrails &amp; Enterprise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8096"/>
                </a:solidFill>
                <a:latin typeface="Segoe UI"/>
              </a:defRPr>
            </a:pPr>
            <a:r>
              <a:t>Production-ready safeguards built into the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0972800" cy="59436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2AC"/>
                </a:solidFill>
                <a:latin typeface="Segoe UI"/>
              </a:defRPr>
            </a:pPr>
            <a:r>
              <a:t>Read-Only Enforcement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Segoe UI"/>
              </a:defRPr>
            </a:pPr>
            <a:r>
              <a:t>Blocks write/delete/admin Flux ops → 403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76272"/>
            <a:ext cx="10972800" cy="59436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2677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2677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2AC"/>
                </a:solidFill>
                <a:latin typeface="Segoe UI"/>
              </a:defRPr>
            </a:pPr>
            <a:r>
              <a:t>Response Truncation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6771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Segoe UI"/>
              </a:defRPr>
            </a:pPr>
            <a:r>
              <a:t>Large responses capped to prevent token flooding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89504"/>
            <a:ext cx="10972800" cy="59436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98094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9809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2AC"/>
                </a:solidFill>
                <a:latin typeface="Segoe UI"/>
              </a:defRPr>
            </a:pPr>
            <a:r>
              <a:t>Pod Limit &amp; 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98094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Segoe UI"/>
              </a:defRPr>
            </a:pPr>
            <a:r>
              <a:t>Prevents 500+ pods from overwhelming LLM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02736"/>
            <a:ext cx="10972800" cy="59436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69417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6941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2AC"/>
                </a:solidFill>
                <a:latin typeface="Segoe UI"/>
              </a:defRPr>
            </a:pPr>
            <a:r>
              <a:t>Auto toFloat() Injection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69417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Segoe UI"/>
              </a:defRPr>
            </a:pPr>
            <a:r>
              <a:t>Detects aggregations, auto-fixes type errors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315968"/>
            <a:ext cx="10972800" cy="59436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4074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4074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2AC"/>
                </a:solidFill>
                <a:latin typeface="Segoe UI"/>
              </a:defRPr>
            </a:pPr>
            <a:r>
              <a:t>Trace ID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4074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Segoe UI"/>
              </a:defRPr>
            </a:pPr>
            <a:r>
              <a:t>Strict hex regex (16–32 chars) before Tempo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29200"/>
            <a:ext cx="10972800" cy="59436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120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2AC"/>
                </a:solidFill>
                <a:latin typeface="Segoe UI"/>
              </a:defRPr>
            </a:pPr>
            <a:r>
              <a:t>Cloudflare Fallback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1206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Segoe UI"/>
              </a:defRPr>
            </a:pPr>
            <a:r>
              <a:t>Rancher blocked → cached pod snapshot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742432"/>
            <a:ext cx="10972800" cy="59436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58338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833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2AC"/>
                </a:solidFill>
                <a:latin typeface="Segoe UI"/>
              </a:defRPr>
            </a:pPr>
            <a:r>
              <a:t>Secrets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83387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Segoe UI"/>
              </a:defRPr>
            </a:pPr>
            <a:r>
              <a:t>All tokens in Azure App Settings, never in 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g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1639957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566160"/>
            <a:ext cx="2103120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BD5E0"/>
                </a:solidFill>
                <a:latin typeface="Segoe UI"/>
              </a:defRPr>
            </a:pPr>
            <a:r>
              <a:rPr dirty="0" err="1"/>
              <a:t>PerfBot</a:t>
            </a:r>
            <a:r>
              <a:rPr dirty="0"/>
              <a:t> in </a:t>
            </a:r>
            <a:r>
              <a:rPr lang="en-US" dirty="0"/>
              <a:t>Azure Foundry Playground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18096"/>
                </a:solidFill>
                <a:latin typeface="Segoe UI"/>
              </a:defRPr>
            </a:pPr>
            <a:r>
              <a:t>Metrics  •  Pod Status  •  Trace Analysis  •  Expert Reasoning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g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1639957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8BB78"/>
                </a:solidFill>
                <a:latin typeface="Segoe UI"/>
              </a:defRPr>
            </a:pPr>
            <a:r>
              <a:t>📈  ROI &amp;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029200" cy="91440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C5656"/>
                </a:solidFill>
                <a:latin typeface="Segoe UI"/>
              </a:defRPr>
            </a:pPr>
            <a:r>
              <a:t>15–30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8BB78"/>
                </a:solidFill>
                <a:latin typeface="Segoe UI"/>
              </a:defRPr>
            </a:pPr>
            <a:r>
              <a:t>→  5 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8096"/>
                </a:solidFill>
                <a:latin typeface="Segoe UI"/>
              </a:defRPr>
            </a:pPr>
            <a:r>
              <a:t>per query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5029200" cy="91440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C5656"/>
                </a:solidFill>
                <a:latin typeface="Segoe UI"/>
              </a:defRPr>
            </a:pPr>
            <a:r>
              <a:t>~5 hrs/week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8BB78"/>
                </a:solidFill>
                <a:latin typeface="Segoe UI"/>
              </a:defRPr>
            </a:pPr>
            <a:r>
              <a:t>saved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8096"/>
                </a:solidFill>
                <a:latin typeface="Segoe UI"/>
              </a:defRPr>
            </a:pPr>
            <a:r>
              <a:t>engineering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5029200" cy="91440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C5656"/>
                </a:solidFill>
                <a:latin typeface="Segoe UI"/>
              </a:defRPr>
            </a:pPr>
            <a:r>
              <a:t>2–3 experts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8BB78"/>
                </a:solidFill>
                <a:latin typeface="Segoe UI"/>
              </a:defRPr>
            </a:pPr>
            <a:r>
              <a:t>→  entire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77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8096"/>
                </a:solidFill>
                <a:latin typeface="Segoe UI"/>
              </a:defRPr>
            </a:pPr>
            <a:r>
              <a:t>self-service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1999"/>
            <a:ext cx="5029200" cy="914400"/>
          </a:xfrm>
          <a:prstGeom prst="roundRect">
            <a:avLst/>
          </a:prstGeom>
          <a:solidFill>
            <a:srgbClr val="1A1D2E"/>
          </a:solidFill>
          <a:ln w="1905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7091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C5656"/>
                </a:solidFill>
                <a:latin typeface="Segoe UI"/>
              </a:defRPr>
            </a:pPr>
            <a:r>
              <a:t>Next-day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7091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8BB78"/>
                </a:solidFill>
                <a:latin typeface="Segoe UI"/>
              </a:defRPr>
            </a:pPr>
            <a:r>
              <a:t>→  immediate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7491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8096"/>
                </a:solidFill>
                <a:latin typeface="Segoe UI"/>
              </a:defRPr>
            </a:pPr>
            <a:r>
              <a:t>regression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F7AEA"/>
                </a:solidFill>
                <a:latin typeface="Segoe UI"/>
              </a:defRPr>
            </a:pPr>
            <a:r>
              <a:t>🚀  What’s Next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914400"/>
            <a:ext cx="1828800" cy="38100"/>
          </a:xfrm>
          <a:prstGeom prst="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128016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600"/>
              </a:spcBef>
              <a:defRPr sz="1600" b="0">
                <a:solidFill>
                  <a:srgbClr val="CBD5E0"/>
                </a:solidFill>
                <a:latin typeface="Segoe UI"/>
              </a:defRPr>
            </a:pPr>
            <a:r>
              <a:t>▸  Proactive alerts — push to channel on completion</a:t>
            </a:r>
          </a:p>
          <a:p>
            <a:pPr>
              <a:spcBef>
                <a:spcPts val="1600"/>
              </a:spcBef>
              <a:defRPr sz="1600">
                <a:solidFill>
                  <a:srgbClr val="CBD5E0"/>
                </a:solidFill>
                <a:latin typeface="Segoe UI"/>
              </a:defRPr>
            </a:pPr>
            <a:r>
              <a:t>▸  Jira integration — auto-ticket on SLA breach</a:t>
            </a:r>
          </a:p>
          <a:p>
            <a:pPr>
              <a:spcBef>
                <a:spcPts val="1600"/>
              </a:spcBef>
              <a:defRPr sz="1600">
                <a:solidFill>
                  <a:srgbClr val="CBD5E0"/>
                </a:solidFill>
                <a:latin typeface="Segoe UI"/>
              </a:defRPr>
            </a:pPr>
            <a:r>
              <a:t>▸  CPU/Memory monitoring — resource utilization insights</a:t>
            </a:r>
          </a:p>
          <a:p>
            <a:pPr>
              <a:spcBef>
                <a:spcPts val="1600"/>
              </a:spcBef>
              <a:defRPr sz="1600">
                <a:solidFill>
                  <a:srgbClr val="CBD5E0"/>
                </a:solidFill>
                <a:latin typeface="Segoe UI"/>
              </a:defRPr>
            </a:pPr>
            <a:r>
              <a:t>▸  Trend analysis — last N runs + rate-of-change</a:t>
            </a:r>
          </a:p>
          <a:p>
            <a:pPr>
              <a:spcBef>
                <a:spcPts val="1600"/>
              </a:spcBef>
              <a:defRPr sz="1600">
                <a:solidFill>
                  <a:srgbClr val="CBD5E0"/>
                </a:solidFill>
                <a:latin typeface="Segoe UI"/>
              </a:defRPr>
            </a:pPr>
            <a:r>
              <a:t>▸  Multi-service risk ranking &amp; priorities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18096"/>
                </a:solidFill>
                <a:latin typeface="Segoe UI"/>
              </a:defRPr>
            </a:pPr>
            <a:r>
              <a:t>Azure AI Foundry (GPT-4o v35)  •  Azure Functions  •  InfluxDB  •  Grafana Tempo  •  Kubernetes  •  Teams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g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28600"/>
            <a:ext cx="1639957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6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108960"/>
            <a:ext cx="2103120" cy="38100"/>
          </a:xfrm>
          <a:prstGeom prst="rect">
            <a:avLst/>
          </a:prstGeom>
          <a:solidFill>
            <a:srgbClr val="F6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6C542"/>
                </a:solidFill>
                <a:latin typeface="Segoe UI"/>
              </a:defRPr>
            </a:pPr>
            <a:r>
              <a:t>TEAM PERF ALCHEMISTS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t>Sabyasachi Choudhury   •   Pankaj Dhondiba   •   Priyanka Deovrat Dongre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8096"/>
                </a:solidFill>
                <a:latin typeface="Segoe UI"/>
              </a:defRPr>
            </a:pPr>
            <a:r>
              <a:t>Azure AI Foundry: perf-alchemists-project  |  Agent: PerfBot v35  |  Channel: Perf Alchemists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537</Words>
  <Application>Microsoft Office PowerPoint</Application>
  <PresentationFormat>Widescreen</PresentationFormat>
  <Paragraphs>106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Sabyasachi Choudhury</cp:lastModifiedBy>
  <cp:revision>2</cp:revision>
  <dcterms:created xsi:type="dcterms:W3CDTF">2013-01-27T09:14:16Z</dcterms:created>
  <dcterms:modified xsi:type="dcterms:W3CDTF">2026-06-04T15:53:37Z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edccfee-01fd-4312-8033-43d18efb0b7c_Enabled">
    <vt:lpwstr>true</vt:lpwstr>
  </property>
  <property fmtid="{D5CDD505-2E9C-101B-9397-08002B2CF9AE}" pid="3" name="MSIP_Label_2edccfee-01fd-4312-8033-43d18efb0b7c_SetDate">
    <vt:lpwstr>2026-06-04T15:52:46Z</vt:lpwstr>
  </property>
  <property fmtid="{D5CDD505-2E9C-101B-9397-08002B2CF9AE}" pid="4" name="MSIP_Label_2edccfee-01fd-4312-8033-43d18efb0b7c_Method">
    <vt:lpwstr>Standard</vt:lpwstr>
  </property>
  <property fmtid="{D5CDD505-2E9C-101B-9397-08002B2CF9AE}" pid="5" name="MSIP_Label_2edccfee-01fd-4312-8033-43d18efb0b7c_Name">
    <vt:lpwstr>Internal Use - General</vt:lpwstr>
  </property>
  <property fmtid="{D5CDD505-2E9C-101B-9397-08002B2CF9AE}" pid="6" name="MSIP_Label_2edccfee-01fd-4312-8033-43d18efb0b7c_SiteId">
    <vt:lpwstr>3a41ae53-fb35-4431-be7b-a0b3e1aee3c0</vt:lpwstr>
  </property>
  <property fmtid="{D5CDD505-2E9C-101B-9397-08002B2CF9AE}" pid="7" name="MSIP_Label_2edccfee-01fd-4312-8033-43d18efb0b7c_ActionId">
    <vt:lpwstr>d6b486a5-a2f4-47c6-96e8-3ca47959b30c</vt:lpwstr>
  </property>
  <property fmtid="{D5CDD505-2E9C-101B-9397-08002B2CF9AE}" pid="8" name="MSIP_Label_2edccfee-01fd-4312-8033-43d18efb0b7c_ContentBits">
    <vt:lpwstr>0</vt:lpwstr>
  </property>
  <property fmtid="{D5CDD505-2E9C-101B-9397-08002B2CF9AE}" pid="9" name="MSIP_Label_2edccfee-01fd-4312-8033-43d18efb0b7c_Tag">
    <vt:lpwstr>10, 3, 0, 1</vt:lpwstr>
  </property>
</Properties>
</file>